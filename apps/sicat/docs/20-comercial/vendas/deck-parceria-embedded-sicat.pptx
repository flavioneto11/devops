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377440"/>
            <a:ext cx="7498080" cy="7498080"/>
          </a:xfrm>
          <a:prstGeom prst="ellipse">
            <a:avLst/>
          </a:prstGeom>
          <a:solidFill>
            <a:srgbClr val="0A5547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05840"/>
            <a:ext cx="777240" cy="777240"/>
          </a:xfrm>
          <a:prstGeom prst="roundRect">
            <a:avLst>
              <a:gd name="adj" fmla="val 12000"/>
            </a:avLst>
          </a:prstGeom>
          <a:solidFill>
            <a:srgbClr val="0E6E5C"/>
          </a:solidFill>
          <a:ln/>
        </p:spPr>
      </p:sp>
      <p:sp>
        <p:nvSpPr>
          <p:cNvPr id="4" name="Shape 2"/>
          <p:cNvSpPr/>
          <p:nvPr/>
        </p:nvSpPr>
        <p:spPr>
          <a:xfrm>
            <a:off x="742950" y="1273016"/>
            <a:ext cx="388620" cy="728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42950" y="1443038"/>
            <a:ext cx="291465" cy="728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10126" y="1382316"/>
            <a:ext cx="194310" cy="19431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58704" y="1430893"/>
            <a:ext cx="97155" cy="97155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9659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Embedded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de resíduos como componente do seu produto.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de transporte, TMS, ERP, marketplace: embarque emissão, validação e monitoramento de documentos — e cobre por documento, na sua marca.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parceria · 2026 · confidencial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OPORTUNIDADE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transporte de resíduo no Brasil gera documento obrigatório — por lei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38528"/>
            <a:ext cx="3057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4,08 mi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3057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MTRs por ano no sistema nacional (SINIR, 2023)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304" y="173736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5904" y="1938528"/>
            <a:ext cx="3057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~2,2 mi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65904" y="2697480"/>
            <a:ext cx="3057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MTRs por ano só no SIGOR-SP — mercado adicional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5968" y="173736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4568" y="1938528"/>
            <a:ext cx="3057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577 mil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54568" y="2697480"/>
            <a:ext cx="3057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cadastradas nos 3 perfis (geradores, transportadores, destinadores)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 e fiscalizado: Portaria MMA 280/2020 (nacional) + Resolução SIMA 27/2021 (SP) + aferição CETESB (DD 024/2022/P)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embute conformidade no próprio produto captura valor em cada transação do cliente — sem virar empresa de software ambiental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identificamos player de “conformidade embarcada” neste mercado: o espaço de parceria está aberto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Embedded · Material de parceria ·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produto na frente, o SICAT por trás — cobrando por documento conforme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C5D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19456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PRODUTO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9808" y="2542032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apólice, embarque, pedido, contrato — a transação do seu cliente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977640" y="2606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0E6E5C"/>
          </a:solidFill>
          <a:ln w="15875">
            <a:solidFill>
              <a:srgbClr val="0E6E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219456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(INVISÍVEL)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44568" y="2542032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emite, valida e monitora o documento ambiental da transação — via API, com trilha de auditoria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0" y="2606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C5D0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219456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CETESB / SIGOR-SP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39328" y="2542032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oficial de SP — integração real, fila resiliente, reprocessamento (SINIR e demais estados: roadmap)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3514344" cy="1600200"/>
          </a:xfrm>
          <a:prstGeom prst="roundRect">
            <a:avLst>
              <a:gd name="adj" fmla="val 5714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6052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553712"/>
            <a:ext cx="3057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e os PDFs saem com a SUA marca — o cliente nem sabe que existe SICAT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37304" y="3977640"/>
            <a:ext cx="3514344" cy="1600200"/>
          </a:xfrm>
          <a:prstGeom prst="roundRect">
            <a:avLst>
              <a:gd name="adj" fmla="val 5714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5904" y="416052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65904" y="4553712"/>
            <a:ext cx="3057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sistema chama a nossa API; nós devolvemos documento emitido, status e trilha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25968" y="3977640"/>
            <a:ext cx="3514344" cy="1600200"/>
          </a:xfrm>
          <a:prstGeom prst="roundRect">
            <a:avLst>
              <a:gd name="adj" fmla="val 5714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54568" y="416052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documento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54568" y="4553712"/>
            <a:ext cx="3057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paga por Documento Conforme processado — sem licença por usuário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Embedded · Material de parceria ·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ÂNCORA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de transporte de resíduos com conformidade embarcada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7178" cy="2103120"/>
          </a:xfrm>
          <a:prstGeom prst="roundRect">
            <a:avLst>
              <a:gd name="adj" fmla="val 4348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20240"/>
            <a:ext cx="347472" cy="347472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065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2164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Apólice emitida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743200"/>
            <a:ext cx="216484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carga segurada exige documentação ambiental válida — cláusula da apólice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90138" y="1737360"/>
            <a:ext cx="2567178" cy="2103120"/>
          </a:xfrm>
          <a:prstGeom prst="roundRect">
            <a:avLst>
              <a:gd name="adj" fmla="val 4348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1306" y="1920240"/>
            <a:ext cx="347472" cy="347472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11" name="Text 9"/>
          <p:cNvSpPr/>
          <p:nvPr/>
        </p:nvSpPr>
        <p:spPr>
          <a:xfrm>
            <a:off x="3591306" y="19065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91306" y="2359152"/>
            <a:ext cx="2164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programada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91306" y="2743200"/>
            <a:ext cx="216484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da seguradora chama a API do SICAT: MTR emitido/validado na hora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1636" y="1737360"/>
            <a:ext cx="2567178" cy="2103120"/>
          </a:xfrm>
          <a:prstGeom prst="roundRect">
            <a:avLst>
              <a:gd name="adj" fmla="val 4348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2804" y="1920240"/>
            <a:ext cx="347472" cy="347472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32804" y="19065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32804" y="2359152"/>
            <a:ext cx="2164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Viagem monitorada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32804" y="2743200"/>
            <a:ext cx="216484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documento acompanhado até a baixa no destino — alertas de pendência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73134" y="1737360"/>
            <a:ext cx="2567178" cy="2103120"/>
          </a:xfrm>
          <a:prstGeom prst="roundRect">
            <a:avLst>
              <a:gd name="adj" fmla="val 4348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74302" y="1920240"/>
            <a:ext cx="347472" cy="347472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21" name="Text 19"/>
          <p:cNvSpPr/>
          <p:nvPr/>
        </p:nvSpPr>
        <p:spPr>
          <a:xfrm>
            <a:off x="9274302" y="19065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74302" y="2359152"/>
            <a:ext cx="2164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Sinistro auditável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74302" y="2743200"/>
            <a:ext cx="216484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completa: o que foi emitido, quando, por quem — regulação de sinistro sem disputa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0E6E5C"/>
          </a:solidFill>
          <a:ln w="12700">
            <a:solidFill>
              <a:srgbClr val="0E6E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370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DO PARCEIRO (EXEMPLO ILUSTRATIVO)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4681728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20.000 cargas/mês  ·  custo SICAT R$ 0,60/doc  ·  cobrado no pacote R$ 3,50/doc  →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R$ 58.000 /mês de margem no componente documental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21208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8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além do produto principal. O seguro fica mais vendável: “apólice que já sai conforme”.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Embedded · Material de parceria ·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MAIS ENCAIXA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categorias de parceiro, o mesmo motor por documento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08676" cy="1783080"/>
          </a:xfrm>
          <a:prstGeom prst="roundRect">
            <a:avLst>
              <a:gd name="adj" fmla="val 5128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93392"/>
            <a:ext cx="384048" cy="384048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79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93392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Seguradoras e corretoras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14600"/>
            <a:ext cx="4896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embarcada na apólice de transporte; sinistro com trilha auditável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1636" y="1737360"/>
            <a:ext cx="5408676" cy="1783080"/>
          </a:xfrm>
          <a:prstGeom prst="roundRect">
            <a:avLst>
              <a:gd name="adj" fmla="val 5128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87668" y="1993392"/>
            <a:ext cx="384048" cy="384048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11" name="Text 9"/>
          <p:cNvSpPr/>
          <p:nvPr/>
        </p:nvSpPr>
        <p:spPr>
          <a:xfrm>
            <a:off x="6487668" y="1979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08876" y="1993392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/ ERP de logística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87668" y="2514600"/>
            <a:ext cx="4896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embarque de resíduo sai com MTR emitido de dentro do sistema que a operação já usa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408676" cy="1783080"/>
          </a:xfrm>
          <a:prstGeom prst="roundRect">
            <a:avLst>
              <a:gd name="adj" fmla="val 5128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959352"/>
            <a:ext cx="384048" cy="384048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945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959352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e recicladoras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480560"/>
            <a:ext cx="4896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negociação fecha com a documentação da retirada resolvida na própria plataforma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1636" y="3703320"/>
            <a:ext cx="5408676" cy="1783080"/>
          </a:xfrm>
          <a:prstGeom prst="roundRect">
            <a:avLst>
              <a:gd name="adj" fmla="val 5128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7668" y="3959352"/>
            <a:ext cx="384048" cy="384048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21" name="Text 19"/>
          <p:cNvSpPr/>
          <p:nvPr/>
        </p:nvSpPr>
        <p:spPr>
          <a:xfrm>
            <a:off x="6487668" y="3945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08876" y="3959352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Bancos, ESG e crédito verde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87668" y="4480560"/>
            <a:ext cx="4896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documental de destinação correta para relatórios, garantias e taxas verdes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8064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todos os casos o parceiro é dono do cliente e do preço final; o SICAT é o motor de conformidade por trás.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Embedded · Material de parceria ·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EM TEMPO REAL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existe em produção — e o que ligamos junto com o primeiro parceiro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4023360"/>
          </a:xfrm>
          <a:prstGeom prst="roundRect">
            <a:avLst>
              <a:gd name="adj" fmla="val 2273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56232"/>
            <a:ext cx="4860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F7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HOJE (EM PRODUÇÃO)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6003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interna contract-first (OpenAPI) com operações assíncronas 202+jobId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resiliente com retry/DLQ e idempotência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fim-a-fim por correlationId (trilha exportável)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multi-conta CETESB e RBAC para segregar clientes do parceiro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operacionais e health de contas/sessões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1636" y="1691640"/>
            <a:ext cx="5408676" cy="4023360"/>
          </a:xfrm>
          <a:prstGeom prst="roundRect">
            <a:avLst>
              <a:gd name="adj" fmla="val 2273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5956" y="1856232"/>
            <a:ext cx="4860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0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LIGAMOS COM O PARCEIRO (ROADMAP CURTO)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05956" y="2240280"/>
            <a:ext cx="48600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 de parceiro (chaves, quotas, versionamento) — 4–6 semanas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de eventos de status em tempo real (emitido/recebido/falhou/reprocessado) — 4–6 semanas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white-label do parceiro (monitoramento + relatórios) — 6–8 semanas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Metering/billing por documento (mesmo motor da medição de DOs do B2B direto) — 2–3 semanas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05956" y="5074920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5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dedicado, gratuito por 90 dias, entra no ar na semana 1 da parceria.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Embedded · Material de parceria ·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 com status vivo — visibilidade que vira produto para o SEU cliente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0" cy="4023360"/>
          </a:xfrm>
          <a:prstGeom prst="roundRect">
            <a:avLst>
              <a:gd name="adj" fmla="val 2273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562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OPERACIONAL (ilustrativo)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1E7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585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 4501-8821 · Carga 2231 · Osasco → Paulínia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230428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2F0F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2905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EMITIDO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1E7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8072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 4501-8822 · Carga 2232 · Barueri → Caieiras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285292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2F2E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8392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" y="3337560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1E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3558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 4501-8823 · Carga 2233 · Santos → Cubatão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340156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2F2E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3878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BAIXADO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" y="3886200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1E7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9044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 4501-8824 · Carga 2240 · Sorocaba → Iperó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39502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8EED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9364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REPROCESSADO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" y="4434840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1E7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4531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 1102-441 · Lote 88 · destinação certificada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449884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2F2E9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44851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 GERADO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5120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Reprocessamentos automáticos aparecem como evento — nunca como documento perdido.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1920240"/>
            <a:ext cx="510235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status por documento: emitido, recebido, baixado, falhou, reprocessado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de contas e sessões CETESB — o parceiro enxerga risco antes do cliente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de auditoria exportável por correlationId (regulação de sinistro, compliance, ESG)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CSV e, no roadmap, webhooks em tempo real + painel white-label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Embedded · Material de parceria ·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Pague por Documento Conforme — o preço cai com o volume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57784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mensal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por documento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5.000 docs/mês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5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5.001–25.000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5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25.001–100.000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5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acima de 100.000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55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37960" y="1874520"/>
            <a:ext cx="51023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mensal: R$ 2.500 (garante prioridade de suporte e capacidade)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de integração: R$ 15.000–R$ 40.000 — onboarding técnico, sandbox, homologação e go-live assistido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White-label: +R$ 3.000/mês por marca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revenue-share: 10–20% do componente documental do seu produto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gratuito por 90 dias — a parceria começa sem custo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tabela 2026 para proposta de parceria; contrato final por volume comprometido. Documento Conforme = documento emitido/validado via API com trilha de auditoria.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Embedded · Material de parceria ·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HONESTO E SEGURANÇA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marcas exigem clareza — nosso contrato entrega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3931920"/>
          </a:xfrm>
          <a:prstGeom prst="roundRect">
            <a:avLst>
              <a:gd name="adj" fmla="val 2326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56232"/>
            <a:ext cx="4860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A5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EM DUAS CAMADAS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6003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99,5% de disponibilidade da plataforma SICAT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de reprocessamento: comando aceito nunca se perde — a fila segura e executa quando o portal volta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explícita: indisponibilidade/mudança do portal CETESB (governo) — com compromisso de adequação em dias úteis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vendemos “uptime de emissão” — e explicamos o porquê no contrato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31636" y="1691640"/>
            <a:ext cx="5408676" cy="3931920"/>
          </a:xfrm>
          <a:prstGeom prst="roundRect">
            <a:avLst>
              <a:gd name="adj" fmla="val 2326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5956" y="1856232"/>
            <a:ext cx="4860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A5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LGPD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05956" y="2240280"/>
            <a:ext cx="486003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CETESB criptografadas e segregadas por cliente do parceiro (multi-conta + RBAC)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de auditoria imutável por operação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 (acordo de tratamento de dados) anexo ao contrato de parceria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corporativo (OIDC) para os times do parceiro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Embedded · Material de parceria ·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COMEÇA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aperto de mão ao documento em produção em 4–8 semanas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286000"/>
            <a:ext cx="2164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2606040"/>
            <a:ext cx="2164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no 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063240"/>
            <a:ext cx="21648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de teste, dados fictícios, workshop técnico com seu time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34106" y="3017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90138" y="210312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1306" y="2286000"/>
            <a:ext cx="2164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2–5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91306" y="2606040"/>
            <a:ext cx="2164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91306" y="3063240"/>
            <a:ext cx="21648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sistema chama a API; homologação conjunta caso a caso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75604" y="3017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1636" y="210312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0F3F4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2804" y="2286000"/>
            <a:ext cx="2164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4–8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32804" y="2606040"/>
            <a:ext cx="2164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real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32804" y="3063240"/>
            <a:ext cx="21648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produto, um recorte de clientes, documentos de verdade monitorados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17102" y="3017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73134" y="210312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0E6E5C"/>
          </a:solidFill>
          <a:ln w="12700">
            <a:solidFill>
              <a:srgbClr val="0E6E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74302" y="2286000"/>
            <a:ext cx="2164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274302" y="2606040"/>
            <a:ext cx="21648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74302" y="3063240"/>
            <a:ext cx="21648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por volume, white-label opcional, roadmap conjunto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892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para começar: só o setup de integração — o sandbox é por nossa conta. O mínimo mensal só corre a partir do go-live.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transparência: o SICAT opera hoje sobre a integração real do portal CETESB-SP; a API pública de parceiro, webhooks e painel white-label são ativados junto com o primeiro parceiro (4–8 semanas, cronograma acima).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Embedded · Material de parceria ·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6766560" cy="6766560"/>
          </a:xfrm>
          <a:prstGeom prst="ellipse">
            <a:avLst/>
          </a:prstGeom>
          <a:solidFill>
            <a:srgbClr val="0A5547">
              <a:alpha val="3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1440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0E6E5C"/>
          </a:solidFill>
          <a:ln/>
        </p:spPr>
      </p:sp>
      <p:sp>
        <p:nvSpPr>
          <p:cNvPr id="4" name="Shape 2"/>
          <p:cNvSpPr/>
          <p:nvPr/>
        </p:nvSpPr>
        <p:spPr>
          <a:xfrm>
            <a:off x="690372" y="1109282"/>
            <a:ext cx="283464" cy="53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90372" y="1233297"/>
            <a:ext cx="212598" cy="53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85253" y="1189006"/>
            <a:ext cx="141732" cy="1417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20687" y="1224439"/>
            <a:ext cx="70866" cy="70866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desenhar o piloto juntos?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 produto, um recorte de clientes e um mês no calendário.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F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levamos o sandbox, a API e o time técnico.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6949440" cy="1371600"/>
          </a:xfrm>
          <a:prstGeom prst="roundRect">
            <a:avLst>
              <a:gd name="adj" fmla="val 6667"/>
            </a:avLst>
          </a:prstGeom>
          <a:solidFill>
            <a:srgbClr val="162025"/>
          </a:solidFill>
          <a:ln w="12700">
            <a:solidFill>
              <a:srgbClr val="223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60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parceiro por vertical leva condição de fundador: </a:t>
            </a:r>
            <a:pPr indent="0" marL="0">
              <a:buNone/>
            </a:pPr>
            <a:r>
              <a:rPr lang="en-US" sz="1300" dirty="0">
                <a:solidFill>
                  <a:srgbClr val="93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de desconto no setup + exclusividade de vertical por 12 meses (condição promocional de lançamento — negociável).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577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[CONTATO — nome · e-mail · WhatsApp]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SICAT Embedded · NovaIT · material de parceria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SICAT Embedded — parcerias</dc:title>
  <dc:subject>PptxGenJS Presentation</dc:subject>
  <dc:creator>SICAT / NovaIT</dc:creator>
  <cp:lastModifiedBy>SICAT / NovaIT</cp:lastModifiedBy>
  <cp:revision>1</cp:revision>
  <dcterms:created xsi:type="dcterms:W3CDTF">2026-07-16T23:15:02Z</dcterms:created>
  <dcterms:modified xsi:type="dcterms:W3CDTF">2026-07-16T23:15:02Z</dcterms:modified>
</cp:coreProperties>
</file>