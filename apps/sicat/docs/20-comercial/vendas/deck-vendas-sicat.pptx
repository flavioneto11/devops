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858000" cy="6858000"/>
          </a:xfrm>
          <a:prstGeom prst="ellipse">
            <a:avLst/>
          </a:prstGeom>
          <a:solidFill>
            <a:srgbClr val="0A5547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4206240" cy="4206240"/>
          </a:xfrm>
          <a:prstGeom prst="ellipse">
            <a:avLst/>
          </a:prstGeom>
          <a:solidFill>
            <a:srgbClr val="0E6E5C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0E6E5C"/>
          </a:solidFill>
          <a:ln/>
        </p:spPr>
      </p:sp>
      <p:sp>
        <p:nvSpPr>
          <p:cNvPr id="5" name="Shape 3"/>
          <p:cNvSpPr/>
          <p:nvPr/>
        </p:nvSpPr>
        <p:spPr>
          <a:xfrm>
            <a:off x="742950" y="1318736"/>
            <a:ext cx="388620" cy="728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42950" y="1488757"/>
            <a:ext cx="291465" cy="728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10126" y="1428036"/>
            <a:ext cx="194310" cy="1943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58704" y="1476613"/>
            <a:ext cx="97155" cy="97155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19659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MTR, CDF e preparação de DMR sobre a CETESB-SP — com IA que opera por você.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Emita em lote, receba e dê baixa, audite tudo — sem viver dentro do portal.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 · 2026 ·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resíduos no portal é trabalho manual que não escala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MTR emitido manualmente no portal — login, preenchimento, impressão, um a um.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7304" y="160020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87452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h/mês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65904" y="25603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uma operação de 300 MTRs — R$ 700–1.000 de mão de obra administrativa, todo mês.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5968" y="160020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4568" y="187452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024/2022/P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54568" y="25603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CETESB afere o que você declara. Inconsistência entre emitido, recebido e destinado vira autuação.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portal é gratuito — mas o seu tempo não é. </a:t>
            </a:r>
            <a:pPr indent="0" marL="0">
              <a:buNone/>
            </a:pPr>
            <a:r>
              <a:rPr lang="en-US" sz="15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SIGOR oscila, o retrabalho é seu; quando falta um documento, o risco também.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DF1F2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38928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que garante a demanda: </a:t>
            </a:r>
            <a:pPr indent="0" marL="0">
              <a:buNone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é obrigatório no Brasil (Portaria MMA 280/2020) e em SP (Resolução SIMA 27/2021 + Decreto 60.520/2014). São 4,08 milhões de MTRs/ano no sistema nacional (2023) — e ~2,2 milhões/ano só no SIGOR-SP.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camada de operação por cima do portal — integração real, não robô de tela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MTR individual e em LOTE (planilha → dezenas de manifestos)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baixa para destinadores + geração de CDF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provisório para emergências e relatórios com export CSV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Multi-empresa: um usuário opera N contas CETESB, com papéis e permissões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resiliente: se a CETESB cair, seus comandos ficam guardados e são reprocessados sozinhos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fim-a-fim: cada operação com trilha completa — sua defesa na fiscalização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691640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FLUI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60920" y="224028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5D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350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operação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planilha, tela ou 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89720" y="31272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338328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0E6E5C"/>
          </a:solidFill>
          <a:ln w="12700">
            <a:solidFill>
              <a:srgbClr val="0E6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3493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— fila resiliente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3813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antes, enfileira, tenta de novo, audita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89720" y="42702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60920" y="452628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5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636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CETESB / SIGOR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4956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real do portal (não é robô de tela)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1 DO (Documento Operado): MTR emitido, recebido/baixado, provisório ou CDF gerado. Consultas, impressões e reprocessamentos automáticos não contam.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IA que não conversa sobre o trabalho — ela faz o trabalho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874520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0E6E5C"/>
          </a:solidFill>
          <a:ln w="9525">
            <a:solidFill>
              <a:srgbClr val="0E6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19110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Emita os MTRs da planilha em anexo para a unidade Osasco.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569464"/>
            <a:ext cx="4023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06040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lida: 23 cargas válidas. Confirma a emissão em lote pela conta CETESB da unidade Osasco?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0" y="3493008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0E6E5C"/>
          </a:solidFill>
          <a:ln w="9525">
            <a:solidFill>
              <a:srgbClr val="0E6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35295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187952"/>
            <a:ext cx="4023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224528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MTRs enfileirados · 23 emitidos com sucesso. Trilha de auditoria e PDFs disponíveis.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52852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ferramentas de ação: emitir, cancelar, imprimir, dar baixa, consultar jobs e auditoria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anexos: planilhas, PDFs e fotos viram operação (até 20 arquivos por conversa)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em lote sempre pedem confirmação — guardrails de fábrica, nada roda sozinho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sobre a SUA operação: status, pendências, quem emitiu o quê e quando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mensal inclusa em todos os planos (100 a 5.000 interações)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operações diferentes, um produto — o plano segue o seu volume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83664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69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83664"/>
            <a:ext cx="2508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300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Indústria, redes de varejo, clínicas, oficinas — quem produz o resíduo.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154680"/>
            <a:ext cx="3002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em lote por unidade/CNPJ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 a operação de N filiais em um lugar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4892040"/>
            <a:ext cx="300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 do Essencial ao Enterprise pelo nº de MTRs e unidades.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7304" y="16459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3336" y="1883664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93336" y="1869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14544" y="1883664"/>
            <a:ext cx="2508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3336" y="2432304"/>
            <a:ext cx="300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leva a carga — e muitas vezes emite pelo gerador.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3336" y="3154680"/>
            <a:ext cx="3002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N contas CETESB de clientes num painel só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volume: excedente por DO cai conforme cresce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3336" y="4892040"/>
            <a:ext cx="300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nascem no Profissional/Operacional pelo nº de contas CETESB que operam.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25968" y="16459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2000" y="1883664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1869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03208" y="1883664"/>
            <a:ext cx="2508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finais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2000" y="2432304"/>
            <a:ext cx="300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Aterros, recicladoras, tratadores — quem recebe e dá o destino.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82000" y="3154680"/>
            <a:ext cx="3002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baixa em escala + CDF no mesmo fluxo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 pronta para a fiscalização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82000" y="4892040"/>
            <a:ext cx="300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baixas + equipe definem o plano.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FECHA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se paga no tempo que a sua equipe para de gastar no portal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— NA MÃO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R$ 700–1.000/mês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mão de obra para ~300 MTRs manuais (20–30 h), sem contar retrabalho quando o portal oscila.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risco de autuação por inconsistência (a CETESB afere).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0E6E5C"/>
          </a:solidFill>
          <a:ln w="12700">
            <a:solidFill>
              <a:srgbClr val="0E6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SICAT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R$ 349/mês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537960" y="299008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Profissional: 300 DOs/mês inclusos — a mesma operação de 300 MTRs, em lote, com fila resiliente, auditoria e IA.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Paga-se sozinho — e devolve tempo para a operação.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rara no setor: </a:t>
            </a:r>
            <a:pPr indent="0" marL="0">
              <a:buNone/>
            </a:pPr>
            <a:r>
              <a:rPr lang="en-US" sz="13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concorrentes vendem “sob consulta”. O SICAT publica preço de tabela — você compara, decide e testa 14 dias sem cartão.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E PREÇOS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+ franquia de DOs + excedente — o preço por documento cai conforme você cresce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1468" cy="416052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25400" dir="5400000">
              <a:srgbClr val="10181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38528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2199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Micro/Autônomo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615184"/>
            <a:ext cx="21991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R$ 129</a:t>
            </a:r>
            <a:pPr indent="0" marL="0">
              <a:buNone/>
            </a:pPr>
            <a:r>
              <a:rPr lang="en-US" sz="11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2357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DOs/mês inclusos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R$ 1,50/DO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conta CETESB · 2 usuários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100 interações + 10 arquivos/mês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3 meses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e-mail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78708" y="1737360"/>
            <a:ext cx="2601468" cy="4160520"/>
          </a:xfrm>
          <a:prstGeom prst="roundRect">
            <a:avLst>
              <a:gd name="adj" fmla="val 3515"/>
            </a:avLst>
          </a:prstGeom>
          <a:solidFill>
            <a:srgbClr val="0E6E5C"/>
          </a:solidFill>
          <a:ln w="12700">
            <a:solidFill>
              <a:srgbClr val="0E6E5C"/>
            </a:solidFill>
            <a:prstDash val="solid"/>
          </a:ln>
          <a:effectLst>
            <a:outerShdw sx="100000" sy="100000" kx="0" ky="0" algn="bl" rotWithShape="0" blurRad="101600" dist="25400" dir="5400000">
              <a:srgbClr val="10181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93642" y="1581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06A14"/>
          </a:solidFill>
          <a:ln/>
        </p:spPr>
      </p:sp>
      <p:sp>
        <p:nvSpPr>
          <p:cNvPr id="11" name="Text 9"/>
          <p:cNvSpPr/>
          <p:nvPr/>
        </p:nvSpPr>
        <p:spPr>
          <a:xfrm>
            <a:off x="3993642" y="1563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79876" y="1938528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9876" y="2286000"/>
            <a:ext cx="2199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79876" y="2615184"/>
            <a:ext cx="21991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R$ 349</a:t>
            </a:r>
            <a:pPr indent="0" marL="0">
              <a:buNone/>
            </a:pPr>
            <a:r>
              <a:rPr lang="en-US" sz="1100" dirty="0">
                <a:solidFill>
                  <a:srgbClr val="CF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79876" y="3200400"/>
            <a:ext cx="22357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DOs/mês inclusos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3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R$ 1,00/DO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3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contas CETESB · 5 usuários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3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500 interações + 50 arquivos/mês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3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12 meses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3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e-mail + chat D+1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1737360"/>
            <a:ext cx="2601468" cy="416052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25400" dir="5400000">
              <a:srgbClr val="10181C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938528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(Pro)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2286000"/>
            <a:ext cx="2199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intensiva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9944" y="2615184"/>
            <a:ext cx="21991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R$ 899</a:t>
            </a:r>
            <a:pPr indent="0" marL="0">
              <a:buNone/>
            </a:pPr>
            <a:r>
              <a:rPr lang="en-US" sz="11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9944" y="3200400"/>
            <a:ext cx="22357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DOs/mês inclusos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R$ 0,70/DO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contas CETESB · 15 usuários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2.000 interações + 200 arquivos/mês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corporativo · auditoria 24 meses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prioridade 8x5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38844" y="1737360"/>
            <a:ext cx="2601468" cy="416052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25400" dir="5400000">
              <a:srgbClr val="10181C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40012" y="1938528"/>
            <a:ext cx="2199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40012" y="2286000"/>
            <a:ext cx="2199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operação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40012" y="2615184"/>
            <a:ext cx="21991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R$ 1.990</a:t>
            </a:r>
            <a:pPr indent="0" marL="0">
              <a:buNone/>
            </a:pPr>
            <a:r>
              <a:rPr lang="en-US" sz="11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40012" y="3200400"/>
            <a:ext cx="22357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DOs/mês inclusos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R$ 0,45/DO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CETESB ilimitadas* · usuários ilimitados*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5.000 interações + 500 arquivos/mês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corporativo · auditoria 60 meses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SLA contratual + CSM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ilimitado comercial com fair use contratual. Anual = 2 meses grátis. Trial de 14 dias sem cartão. Valores de tabela 2026 — enquadramento pelo maior critério atingido (DOs, contas ou usuários).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plano leva o produto inteiro — os planos mudam volume, cotas e governança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1051560"/>
          </a:xfrm>
          <a:prstGeom prst="roundRect">
            <a:avLst>
              <a:gd name="adj" fmla="val 869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11096"/>
            <a:ext cx="310896" cy="31089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73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801368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em lote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21408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vira dezenas de MTRs de uma vez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691640"/>
            <a:ext cx="3514344" cy="1051560"/>
          </a:xfrm>
          <a:prstGeom prst="roundRect">
            <a:avLst>
              <a:gd name="adj" fmla="val 869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8472" y="1911096"/>
            <a:ext cx="310896" cy="31089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4538472" y="18973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77384" y="1801368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+ CDF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77384" y="2121408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em escala e certificado no mesmo fluxo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691640"/>
            <a:ext cx="3514344" cy="1051560"/>
          </a:xfrm>
          <a:prstGeom prst="roundRect">
            <a:avLst>
              <a:gd name="adj" fmla="val 869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7136" y="1911096"/>
            <a:ext cx="310896" cy="31089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7136" y="18973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66048" y="1801368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provisório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66048" y="2121408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 coberta, sem improviso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514344" cy="1051560"/>
          </a:xfrm>
          <a:prstGeom prst="roundRect">
            <a:avLst>
              <a:gd name="adj" fmla="val 869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145536"/>
            <a:ext cx="310896" cy="31089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1318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035808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resiliente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355848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CETESB caiu? Reprocessamos sozinhos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7304" y="2926080"/>
            <a:ext cx="3514344" cy="1051560"/>
          </a:xfrm>
          <a:prstGeom prst="roundRect">
            <a:avLst>
              <a:gd name="adj" fmla="val 869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8472" y="3145536"/>
            <a:ext cx="310896" cy="31089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38472" y="31318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7384" y="3035808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77384" y="3355848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por operação — defesa na fiscalização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5968" y="2926080"/>
            <a:ext cx="3514344" cy="1051560"/>
          </a:xfrm>
          <a:prstGeom prst="roundRect">
            <a:avLst>
              <a:gd name="adj" fmla="val 869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7136" y="3145536"/>
            <a:ext cx="310896" cy="31089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31" name="Text 29"/>
          <p:cNvSpPr/>
          <p:nvPr/>
        </p:nvSpPr>
        <p:spPr>
          <a:xfrm>
            <a:off x="8327136" y="31318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66048" y="3035808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operacional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66048" y="3355848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mensal em todos os planos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DF1F2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5720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um cliente subir de plano (e pagar feliz):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" y="491947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DOs por mês · mais contas CETESB (transportadoras e consultorias) · mais usuários · SSO corporativo · retenção de auditoria mais longa. Alertas em 80/100/120% da franquia avisarão antes de qualquer excedente (chegam junto com o medidor de consumo — em desenvolvimento).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ADD-ON FISCAL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CT-e + MDF-e no mesmo fluxo do MTR — em desenvolvimento, com vagas de design partner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B06A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179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 — NÃO DISPONÍVEL HOJE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Seríamos os primeiros do mercado a amarrar MTR ↔ CT-e ↔ MDF-e da mesma viagem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CT-e + MDF-e (o MDF-e é obrigatório para a carga rodar — não vendemos separado)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Credenciamento SEFAZ-SP assistido, certificado A1, CFOPs 5.351/6.351 e homologação inclusos no setup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NFS-e (coletas na cidade) e CTR eletrônico da capital (SP Regula)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49440" y="2011680"/>
            <a:ext cx="4690872" cy="3108960"/>
          </a:xfrm>
          <a:prstGeom prst="roundRect">
            <a:avLst>
              <a:gd name="adj" fmla="val 2941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PRÉ-VENDA (TABELA-ALVO)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2542032"/>
            <a:ext cx="4142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por CNPJ: R$ 499–R$ 999 (única vez)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CT-e+MDF-e: R$ 99–R$ 299/CNPJ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documento: R$ 0,60 → R$ 0,35 (degressivo)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partners: setup grátis + 50% de desconto por 6 meses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com você: o fiscal só é contratável como design partnership — contrato específico de roadmap, nunca embutido no contrato padrão.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 RECEBIMENTO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é simples: sem fidelidade no mensal, desconto no anual, faturamento no Enterprise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CONTRATO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151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fidelidade — cancela quando quiser; aceite eletrônico do contrato padrão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124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meses grátis (12 pelo preço de 10); à vista ou 12x no cartão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8097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meses, reajuste IPCA, cláusula de repactuação de cota de IA; SLA contratual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RECEBIMENTO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2304288"/>
            <a:ext cx="274320" cy="274320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2905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31152" y="22860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ou boleto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31152" y="25877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mensal com NFS-e (todos os planos)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37960" y="3145536"/>
            <a:ext cx="274320" cy="274320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1318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31152" y="3127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crédito recorrente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31152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e Profissional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3986784"/>
            <a:ext cx="274320" cy="274320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9730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31152" y="39684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15/30 dias com PO/empenho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31152" y="4270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 órgãos/grandes contas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4828032"/>
            <a:ext cx="274320" cy="274320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8143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31152" y="48097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add-on fiscal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31152" y="5111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na contratação + 50% na ativação em produção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Excedente: medido no mês, faturado no mês seguinte; teto de 2x a mensalidade. Sem surpresa: acima do teto, a conversa é upgrade — não fatura.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Prometemos o que controlamos — e escrevemos isso em contrato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3977640"/>
          </a:xfrm>
          <a:prstGeom prst="roundRect">
            <a:avLst>
              <a:gd name="adj" fmla="val 2299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garantimos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600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 de disponibilidade da plataforma SICAT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Reprocessamento automático: comando aceito não se perde — quando a CETESB volta, ele executa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 de toda operação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credenciais criptografadas, acesso segregado por papel (DPA no contrato)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3977640"/>
          </a:xfrm>
          <a:prstGeom prst="roundRect">
            <a:avLst>
              <a:gd name="adj" fmla="val 2299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5956" y="18745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vendemos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05956" y="2377440"/>
            <a:ext cx="48600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“Uptime do portal CETESB” — o portal é do governo; quando ele cai, nossa fila protege seu trabalho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 completa hoje: entregamos a preparação; a transmissão está a caminho (será upgrade grátis)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fiscal como pronto — é roadmap com pré-venda transparente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honestidade é argumento de venda: o cliente que já sofreu com promessa de robô mágico reconhece a diferença.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Material comercial · 2026 — preços de tabela sujeitos a proposta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6400800" cy="6400800"/>
          </a:xfrm>
          <a:prstGeom prst="ellipse">
            <a:avLst/>
          </a:prstGeom>
          <a:solidFill>
            <a:srgbClr val="0A5547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E6E5C"/>
          </a:solidFill>
          <a:ln/>
        </p:spPr>
      </p:sp>
      <p:sp>
        <p:nvSpPr>
          <p:cNvPr id="4" name="Shape 2"/>
          <p:cNvSpPr/>
          <p:nvPr/>
        </p:nvSpPr>
        <p:spPr>
          <a:xfrm>
            <a:off x="690372" y="1063562"/>
            <a:ext cx="283464" cy="53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0372" y="1187577"/>
            <a:ext cx="212598" cy="53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85253" y="1143286"/>
            <a:ext cx="141732" cy="1417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20687" y="1178719"/>
            <a:ext cx="70866" cy="7086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14 dias de teste, sem cartão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14344" cy="1737360"/>
          </a:xfrm>
          <a:prstGeom prst="roundRect">
            <a:avLst>
              <a:gd name="adj" fmla="val 5263"/>
            </a:avLst>
          </a:prstGeom>
          <a:solidFill>
            <a:srgbClr val="162025"/>
          </a:solidFill>
          <a:ln w="12700">
            <a:solidFill>
              <a:srgbClr val="223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63240"/>
            <a:ext cx="365760" cy="365760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0449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guiado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criada em 1 dia útil; 20 DOs + IA para testar com a SUA operação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37304" y="2834640"/>
            <a:ext cx="3514344" cy="1737360"/>
          </a:xfrm>
          <a:prstGeom prst="roundRect">
            <a:avLst>
              <a:gd name="adj" fmla="val 5263"/>
            </a:avLst>
          </a:prstGeom>
          <a:solidFill>
            <a:srgbClr val="162025"/>
          </a:solidFill>
          <a:ln w="12700">
            <a:solidFill>
              <a:srgbClr val="2230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5904" y="3063240"/>
            <a:ext cx="365760" cy="365760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65904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68824" y="30449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65904" y="3566160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semanas com onboarding assistido no plano escolhido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25968" y="2834640"/>
            <a:ext cx="3514344" cy="1737360"/>
          </a:xfrm>
          <a:prstGeom prst="roundRect">
            <a:avLst>
              <a:gd name="adj" fmla="val 5263"/>
            </a:avLst>
          </a:prstGeom>
          <a:solidFill>
            <a:srgbClr val="162025"/>
          </a:solidFill>
          <a:ln w="12700">
            <a:solidFill>
              <a:srgbClr val="2230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4568" y="3063240"/>
            <a:ext cx="365760" cy="365760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1" name="Text 19"/>
          <p:cNvSpPr/>
          <p:nvPr/>
        </p:nvSpPr>
        <p:spPr>
          <a:xfrm>
            <a:off x="835456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57488" y="30449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54568" y="3566160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sem fidelidade ou anual com 2 meses grátis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[CONTATO DO VENDEDOR — nome · e-mail · WhatsApp]      [ENDEREÇO DO TRIAL — editar]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· NovaIT — automação de documentos ambientais · material comercial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SICAT — Apresentação comercial</dc:title>
  <dc:subject>PptxGenJS Presentation</dc:subject>
  <dc:creator>SICAT / NovaIT</dc:creator>
  <cp:lastModifiedBy>SICAT / NovaIT</cp:lastModifiedBy>
  <cp:revision>1</cp:revision>
  <dcterms:created xsi:type="dcterms:W3CDTF">2026-07-16T23:15:02Z</dcterms:created>
  <dcterms:modified xsi:type="dcterms:W3CDTF">2026-07-16T23:15:02Z</dcterms:modified>
</cp:coreProperties>
</file>